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872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flyback is a buck-boost converter with a coupled inductor. The "transformer" is really an energy store: during the on-time the primary current ramps up and energy is stored in the core; when the switch opens the energy flies back to the secondary through the diode. The winding ratio (n ≈ 2.66 in our design: Lp = 90 µH, Ls = 12.7 µH) sets the voltage conversion and the transformer provides galvanic isolation. Regulation is closed across the isolation barrier with a TL431 and a 4N25 optocoupler. In a PFC flyback the input is the rectified mains, so the input voltage itself varies as a rectified 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correction, the input current flows only in narrow pulses at the voltage crest.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results of the reference unit (EV44010). The unit drives a constant 0.359 A output current, so the load level is set by the output resistance: 122 Ω (100 %), 92 Ω (75 %), 61 Ω (50 %), 30.5 Ω (25 %). The inductive cases use L = 4.076 H with 20.4 Ω winding resistance. Static loads: with a resistor, or a resistor with the inductor in series, the PF stays at 0.96–0.99 at every level, and efficiency is about 86 % at full load, falling to 72–78 % at quarter load. With the inductor in parallel with the resistor, the PF drops to 0.91–0.94 and efficiency to 54–61 %. Pulsed load (50 % duty): at pulse rates of 25 Hz and above the PF stays between 0.97 and 0.99, and moves by no more than 0.005 inside a run. At 10 Hz and below, which is close to the ~10 Hz bandwidth of the voltage loop, the loop starts following the load and the PF swings widely: down to 0.59 (50→100 %) and 0.41 (25→75 %). The efficiencies above 100 % logged for the 10 Hz and 5 Hz pulse runs are measurement artefacts and are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summarises what we took from the reference unit and what we replaced. Kept: a slow voltage loop (below ~10 Hz) that commands a constant on-time. Dropped: the multiplier, the zero-current detector and the auxiliary winding, none of which a microcontroller can support at switching speed. The price is DCM's higher peak and RMS currents (1.95 A peak primary current for 0.7 A output) – acceptable at 9 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058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62000" y="1323314"/>
            <a:ext cx="10617200" cy="4721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058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62000" y="1323314"/>
            <a:ext cx="10617200" cy="4721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0" cy="68580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1475117" y="2049859"/>
            <a:ext cx="58864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PFC Flyback Converter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475117" y="3543300"/>
            <a:ext cx="1255776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75117" y="4015714"/>
            <a:ext cx="1255776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 Rom · Shoval Buzaglo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75117" y="4488127"/>
            <a:ext cx="1255776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Supervisor: Eric Herb</a:t>
            </a:r>
            <a:r>
              <a:rPr lang="en-US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r>
              <a:rPr lang="en-US" sz="18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 · Spring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Flyback Converter?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47114"/>
            <a:ext cx="98107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isolated DC-DC converter whose transformer stores energy while the switch is on and releases it to the output while it is off. 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2000" y="4618964"/>
            <a:ext cx="4902200" cy="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762000" y="4765014"/>
            <a:ext cx="504926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ON – store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5128220"/>
            <a:ext cx="5049266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rectified line voltage sits across the primary; its current rises linearly at Vin / Lp and energy builds up in the transformer's magnetic field. The output diode is blocked.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18200" y="4618964"/>
            <a:ext cx="4902200" cy="0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5918200" y="4765014"/>
            <a:ext cx="504926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OFF – release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18200" y="5128220"/>
            <a:ext cx="5049266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stored energy transfers to the secondary, the diode conducts, and the secondary current falls linearly into the output capacitor and load.</a:t>
            </a:r>
            <a:endParaRPr lang="en-US" sz="1400" dirty="0"/>
          </a:p>
        </p:txBody>
      </p:sp>
      <p:pic>
        <p:nvPicPr>
          <p:cNvPr id="12" name="Picture 11" descr="A Guide to Flyback Transformers | Coilcraft">
            <a:extLst>
              <a:ext uri="{FF2B5EF4-FFF2-40B4-BE49-F238E27FC236}">
                <a16:creationId xmlns:a16="http://schemas.microsoft.com/office/drawing/2014/main" id="{117A486E-00AC-F903-CE72-64EF15FDE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783" y="1729780"/>
            <a:ext cx="5372100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We Need PFC?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2719057"/>
            <a:ext cx="488575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Switching loads draw current in sharp peaks and distort the mains.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3481057"/>
            <a:ext cx="488575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PFC stage forces the input current to follow the input voltage.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4243057"/>
            <a:ext cx="488575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slow control loop (~10 Hz) averages the power demand; DC capacitors absorb the fast pulses.</a:t>
            </a:r>
            <a:endParaRPr lang="en-US" sz="1500" dirty="0"/>
          </a:p>
        </p:txBody>
      </p:sp>
      <p:pic>
        <p:nvPicPr>
          <p:cNvPr id="7" name="Image 0" descr="Input voltage and current without PFC, PF 0.5698"/>
          <p:cNvPicPr>
            <a:picLocks noChangeAspect="1"/>
          </p:cNvPicPr>
          <p:nvPr/>
        </p:nvPicPr>
        <p:blipFill>
          <a:blip r:embed="rId3"/>
          <a:srcRect l="-29" r="-29"/>
          <a:stretch/>
        </p:blipFill>
        <p:spPr>
          <a:xfrm>
            <a:off x="5911850" y="1742415"/>
            <a:ext cx="4908550" cy="3721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46433" y="5539715"/>
            <a:ext cx="52393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PFC: current flows only at the voltage crest (PF = 0.57)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Definition &amp; Goals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72515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and verify a 12 V / 9 W PFC Flyback converter controlled by an Arduino-class microcontroller instead of a dedicated PFC chip.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059915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Performance Targets: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542515"/>
            <a:ext cx="518007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Factor: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≥ 0.98 resistive, &gt; 0.95 under varying loads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91200" y="2542515"/>
            <a:ext cx="518007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THD: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mild increase under “violent” loads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791420"/>
            <a:ext cx="518007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Tracking: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sinusoidal, in phase with Vin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91200" y="2791420"/>
            <a:ext cx="518007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Stability: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Vout under load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3040328"/>
            <a:ext cx="518007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measured per operating point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91200" y="3040328"/>
            <a:ext cx="518007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MCU Feasibility: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slow loop + one timer register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72515"/>
            <a:ext cx="103601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   Theoretical Study and Requirement Definition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59865"/>
            <a:ext cx="103601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   Characterization of the Reference Unit (EV44010)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047215"/>
            <a:ext cx="103601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   Design of Our Arduino-Controlled Converter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434565"/>
            <a:ext cx="103601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   LTspice Modelling and Simulation Campaign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821915"/>
            <a:ext cx="103601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   Design of the Measurement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3209265"/>
            <a:ext cx="103601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A5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r>
              <a:rPr lang="en-US" sz="1500" dirty="0">
                <a:solidFill>
                  <a:srgbClr val="7F7F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   Laboratory Measurements on the Prototype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596615"/>
            <a:ext cx="103601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A5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r>
              <a:rPr lang="en-US" sz="1500" dirty="0">
                <a:solidFill>
                  <a:srgbClr val="7F7F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   Data Processing and Conclusions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Conduction Modes: CCM, DCM, BCM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23315"/>
            <a:ext cx="324408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1760141"/>
            <a:ext cx="32440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never reaches zero</a:t>
            </a:r>
            <a:endParaRPr lang="en-US" sz="1400" dirty="0"/>
          </a:p>
        </p:txBody>
      </p:sp>
      <p:pic>
        <p:nvPicPr>
          <p:cNvPr id="6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369741"/>
            <a:ext cx="3149600" cy="25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2496741"/>
            <a:ext cx="32440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Low peak currents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2000" y="2865041"/>
            <a:ext cx="32440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 Reverse recovery, RHP zero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16400" y="1323315"/>
            <a:ext cx="324408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216400" y="1760141"/>
            <a:ext cx="345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stays at zero before next cycle</a:t>
            </a:r>
            <a:endParaRPr lang="en-US" sz="1400" dirty="0"/>
          </a:p>
        </p:txBody>
      </p:sp>
      <p:pic>
        <p:nvPicPr>
          <p:cNvPr id="11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16400" y="2369741"/>
            <a:ext cx="3149600" cy="25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16400" y="2496741"/>
            <a:ext cx="32440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No reverse recovery, simple loop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16400" y="2865041"/>
            <a:ext cx="32440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 High peak and RMS currents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216400" y="3233341"/>
            <a:ext cx="324408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design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670800" y="1323315"/>
            <a:ext cx="324408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BCM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670800" y="1760141"/>
            <a:ext cx="37795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turns on exactly at zero current</a:t>
            </a:r>
            <a:endParaRPr lang="en-US" sz="1400" dirty="0"/>
          </a:p>
        </p:txBody>
      </p:sp>
      <p:pic>
        <p:nvPicPr>
          <p:cNvPr id="17" name="Image 2" descr="lin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70800" y="2369741"/>
            <a:ext cx="3149600" cy="25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70800" y="2496741"/>
            <a:ext cx="32440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Soft turn-on, Ipk = 2·Iavg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70800" y="2865041"/>
            <a:ext cx="32440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 Variable frequency, harder EMI filter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670800" y="3500041"/>
            <a:ext cx="324408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unit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Unit: EV44010 Flyback</a:t>
            </a:r>
            <a:endParaRPr lang="en-US" sz="3200" dirty="0"/>
          </a:p>
        </p:txBody>
      </p:sp>
      <p:pic>
        <p:nvPicPr>
          <p:cNvPr id="4" name="Image 0" descr="EV44010-S+4688-N-01A board"/>
          <p:cNvPicPr>
            <a:picLocks noChangeAspect="1"/>
          </p:cNvPicPr>
          <p:nvPr/>
        </p:nvPicPr>
        <p:blipFill>
          <a:blip r:embed="rId3"/>
          <a:srcRect t="-938" b="-938"/>
          <a:stretch/>
        </p:blipFill>
        <p:spPr>
          <a:xfrm>
            <a:off x="762000" y="2510765"/>
            <a:ext cx="4876800" cy="215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08194" y="4771365"/>
            <a:ext cx="2384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EV44010-S+4688-N-01A board</a:t>
            </a:r>
            <a:endParaRPr lang="en-US" sz="1200" dirty="0"/>
          </a:p>
        </p:txBody>
      </p:sp>
      <p:pic>
        <p:nvPicPr>
          <p:cNvPr id="6" name="Image 1" descr="Simplified PFC Flyback power stage schematic"/>
          <p:cNvPicPr>
            <a:picLocks noChangeAspect="1"/>
          </p:cNvPicPr>
          <p:nvPr/>
        </p:nvPicPr>
        <p:blipFill>
          <a:blip r:embed="rId4"/>
          <a:srcRect l="-893" r="-893"/>
          <a:stretch/>
        </p:blipFill>
        <p:spPr>
          <a:xfrm>
            <a:off x="5943600" y="2510765"/>
            <a:ext cx="4876800" cy="215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6501" y="4771365"/>
            <a:ext cx="29109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Simplified PFC Flyback power stage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EV44010 Flyback Simulations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196315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unit, constant 0.359 A output current – load level set by the output resistance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605229"/>
            <a:ext cx="470916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loads – power factor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1988741"/>
          <a:ext cx="4559300" cy="2377284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Load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 + L series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 ∥ 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0.988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0.989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0.937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75 %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0.992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0.933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0.986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0.990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0.926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25 %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0.961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0.982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0.905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η at 100 %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85.8 %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85.8 %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61.5 %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493022"/>
            <a:ext cx="47091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 and R + L: PF ≥ 0.96 at every load level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2000" y="4851140"/>
            <a:ext cx="47091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 ∥ L: PF 0.91–0.94, efficiency only 54–61 %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38800" y="1605229"/>
            <a:ext cx="533704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Pulsed load – PF range vs. pulse rate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38800" y="1925241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</a:t>
            </a: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50 → 100 % step    </a:t>
            </a:r>
            <a:r>
              <a:rPr lang="en-US" sz="12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</a:t>
            </a: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25 → 75 % step    bar = min to max PF</a:t>
            </a:r>
            <a:endParaRPr lang="en-US" sz="1200" dirty="0"/>
          </a:p>
        </p:txBody>
      </p:sp>
      <p:pic>
        <p:nvPicPr>
          <p:cNvPr id="11" name="Image 0" descr="PF range versus pulse frequency for the EV44010: at 100, 50 and 25 Hz PF stays between 0.97 and 0.99 for both steps; at 10, 5 and 1 Hz PF swings widely, down to 0.59 and 0.4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38800" y="2214761"/>
            <a:ext cx="518160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MP44010 Controller – BCM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2696239"/>
            <a:ext cx="53721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On-time: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multiplier sets a sinusoidal peak-current envelope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3148347"/>
            <a:ext cx="516699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Off-time: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ZCS pin detects zero current and restarts the cycle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3849359"/>
            <a:ext cx="516699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average current in phase with Vin → PF ≈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4301468"/>
            <a:ext cx="516699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two-stage OVP, zero-crossing compensation, starter</a:t>
            </a:r>
            <a:endParaRPr lang="en-US" sz="1400" dirty="0"/>
          </a:p>
        </p:txBody>
      </p:sp>
      <p:pic>
        <p:nvPicPr>
          <p:cNvPr id="8" name="Image 0" descr="MP44010 controller block diagram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6134100" y="2103109"/>
            <a:ext cx="4686300" cy="3289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Design: Arduino-Controlled Flyback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23318"/>
            <a:ext cx="499694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000" y="1709341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35.36 V RMS (50 V peak), 50 Hz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085249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12 V / 9 W, isolated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461158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Switching: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fixed 100 kHz, DCM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837061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TL431 + 4N25 optocoupler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212970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Arduino-class MCU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69000" y="1323318"/>
            <a:ext cx="499694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PFC → PFC: Four Changes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69000" y="1709341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capacitor removed: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Cin 125 µF → 10 nF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69000" y="2085249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feedback: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100 kΩ / 150 nF, fc ≈ 10.6 Hz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69000" y="2461158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variable: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on-time instead of duty cycle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69000" y="2837061"/>
            <a:ext cx="499694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Protection:</a:t>
            </a:r>
            <a:r>
              <a:rPr lang="en-US" sz="14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cycle-by-cycle limit at 2.6 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Unit vs. Our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47118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keep the core idea of the EV44010 – a slow voltage loop commanding a constant on-time – and drop the parts an MCU cannot run at switching speed.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2021818"/>
          <a:ext cx="10045701" cy="3822570"/>
        </p:xfrm>
        <a:graphic>
          <a:graphicData uri="http://schemas.openxmlformats.org/drawingml/2006/table">
            <a:tbl>
              <a:tblPr/>
              <a:tblGrid>
                <a:gridCol w="3348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8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Function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EV44010 / MP44010 (reference)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Our Arduino design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Conduction mode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BCM, variable frequency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DCM, fixed 100 kHz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314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Voltage loop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Error amplifier, bandwidth below ~10 Hz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Slow loop, fc ≈ 10.6 Hz (kept)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314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Current shaping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Multiplier sets a sinusoidal peak envelope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Constant on-time – the transformer multiplies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Cycle restart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ZCS pin on an auxiliary winding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MCU timer, every 10 µs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Peak current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Ipk = 2·Iavg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1.95 A peak for 0.7 A output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8314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Protection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Two-stage OVP, zero-crossing comp., starter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Cycle-by-cycle limit at 2.6 A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Constant On-Time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23318"/>
            <a:ext cx="9156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fixed on-time makes the transformer do the multiplication: the averaged input current follows Vin(t) with no fast current loop.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161518"/>
            <a:ext cx="10058400" cy="970227"/>
          </a:xfrm>
          <a:prstGeom prst="rect">
            <a:avLst/>
          </a:prstGeom>
          <a:solidFill>
            <a:srgbClr val="F2F5FB"/>
          </a:solidFill>
          <a:ln/>
        </p:spPr>
        <p:txBody>
          <a:bodyPr wrap="square" lIns="254000" tIns="254000" rIns="254000" bIns="228600" rtlCol="0" anchor="t">
            <a:normAutofit/>
          </a:bodyPr>
          <a:lstStyle/>
          <a:p>
            <a:pPr marL="0" indent="0" algn="ctr">
              <a:lnSpc>
                <a:spcPts val="3640"/>
              </a:lnSpc>
              <a:buNone/>
            </a:pPr>
            <a:r>
              <a:rPr lang="en-US" sz="2600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⟨i</a:t>
            </a:r>
            <a:r>
              <a:rPr lang="en-US" sz="2600" i="1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in</a:t>
            </a:r>
            <a:r>
              <a:rPr lang="en-US" sz="2600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⟩ = V</a:t>
            </a:r>
            <a:r>
              <a:rPr lang="en-US" sz="2600" i="1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in</a:t>
            </a:r>
            <a:r>
              <a:rPr lang="en-US" sz="2600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(t) · T</a:t>
            </a:r>
            <a:r>
              <a:rPr lang="en-US" sz="2600" i="1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on</a:t>
            </a:r>
            <a:r>
              <a:rPr lang="en-US" sz="2600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² / (2 · L</a:t>
            </a:r>
            <a:r>
              <a:rPr lang="en-US" sz="2600" i="1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p</a:t>
            </a:r>
            <a:r>
              <a:rPr lang="en-US" sz="2600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 · T</a:t>
            </a:r>
            <a:r>
              <a:rPr lang="en-US" sz="2600" i="1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s</a:t>
            </a:r>
            <a:r>
              <a:rPr lang="en-US" sz="2600" dirty="0">
                <a:solidFill>
                  <a:srgbClr val="2F5597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2000" y="3436541"/>
            <a:ext cx="32440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153 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2000" y="4020741"/>
            <a:ext cx="324408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Emulated resistance 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16400" y="3436541"/>
            <a:ext cx="32440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3.43 µs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16400" y="4020741"/>
            <a:ext cx="324408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on-time command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70800" y="3436541"/>
            <a:ext cx="32440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0.08 %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70800" y="4020741"/>
            <a:ext cx="324408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On-time variation over line cycle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LTspice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2136118"/>
            <a:ext cx="2485390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PFC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3920"/>
            <a:ext cx="24853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Duty-cycle PI regulator, Cin = 125 µF</a:t>
            </a:r>
            <a:endParaRPr lang="en-US" sz="1300" dirty="0"/>
          </a:p>
        </p:txBody>
      </p:sp>
      <p:pic>
        <p:nvPicPr>
          <p:cNvPr id="6" name="Image 0" descr="LTspice schematic of the converter without PFC"/>
          <p:cNvPicPr>
            <a:picLocks noChangeAspect="1"/>
          </p:cNvPicPr>
          <p:nvPr/>
        </p:nvPicPr>
        <p:blipFill>
          <a:blip r:embed="rId3"/>
          <a:srcRect l="-84" r="-84"/>
          <a:stretch/>
        </p:blipFill>
        <p:spPr>
          <a:xfrm>
            <a:off x="3429000" y="1247118"/>
            <a:ext cx="7391400" cy="2578100"/>
          </a:xfrm>
          <a:prstGeom prst="rect">
            <a:avLst/>
          </a:prstGeom>
        </p:spPr>
      </p:pic>
      <p:pic>
        <p:nvPicPr>
          <p:cNvPr id="7" name="Image 1" descr="LTspice control block of the converter without PFC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762000" y="4053818"/>
            <a:ext cx="100584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LTspice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2174218"/>
            <a:ext cx="2485390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PFC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512020"/>
            <a:ext cx="24853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loop → constant Ton, Cin = 10 nF</a:t>
            </a:r>
            <a:endParaRPr lang="en-US" sz="1300" dirty="0"/>
          </a:p>
        </p:txBody>
      </p:sp>
      <p:pic>
        <p:nvPicPr>
          <p:cNvPr id="6" name="Image 0" descr="LTspice schematic of the converter with PFC"/>
          <p:cNvPicPr>
            <a:picLocks noChangeAspect="1"/>
          </p:cNvPicPr>
          <p:nvPr/>
        </p:nvPicPr>
        <p:blipFill>
          <a:blip r:embed="rId3"/>
          <a:srcRect t="-26" b="-26"/>
          <a:stretch/>
        </p:blipFill>
        <p:spPr>
          <a:xfrm>
            <a:off x="3429000" y="1247118"/>
            <a:ext cx="7391400" cy="2654300"/>
          </a:xfrm>
          <a:prstGeom prst="rect">
            <a:avLst/>
          </a:prstGeom>
        </p:spPr>
      </p:pic>
      <p:pic>
        <p:nvPicPr>
          <p:cNvPr id="7" name="Image 1" descr="LTspice control block of the converter with PFC"/>
          <p:cNvPicPr>
            <a:picLocks noChangeAspect="1"/>
          </p:cNvPicPr>
          <p:nvPr/>
        </p:nvPicPr>
        <p:blipFill>
          <a:blip r:embed="rId4"/>
          <a:srcRect t="-140" b="-140"/>
          <a:stretch/>
        </p:blipFill>
        <p:spPr>
          <a:xfrm>
            <a:off x="762000" y="4130018"/>
            <a:ext cx="100584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Switching Regime Verification – DCM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21718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 = 100 kHz, traces: V(pwm), I(Schottky), V(drain)</a:t>
            </a:r>
            <a:endParaRPr lang="en-US" sz="1300" dirty="0"/>
          </a:p>
        </p:txBody>
      </p:sp>
      <p:pic>
        <p:nvPicPr>
          <p:cNvPr id="5" name="Image 0" descr="Switching waveforms without PFC"/>
          <p:cNvPicPr>
            <a:picLocks noChangeAspect="1"/>
          </p:cNvPicPr>
          <p:nvPr/>
        </p:nvPicPr>
        <p:blipFill>
          <a:blip r:embed="rId3"/>
          <a:srcRect t="-8757" b="-8757"/>
          <a:stretch/>
        </p:blipFill>
        <p:spPr>
          <a:xfrm>
            <a:off x="762000" y="1656029"/>
            <a:ext cx="4876800" cy="25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8502" y="4284929"/>
            <a:ext cx="12637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PFC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3101" y="4640529"/>
            <a:ext cx="37745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 time + free ringing, ~5 A diode peaks</a:t>
            </a:r>
            <a:endParaRPr lang="en-US" sz="1300" dirty="0"/>
          </a:p>
        </p:txBody>
      </p:sp>
      <p:pic>
        <p:nvPicPr>
          <p:cNvPr id="8" name="Image 1" descr="Switching waveforms with PFC at the line crest"/>
          <p:cNvPicPr>
            <a:picLocks noChangeAspect="1"/>
          </p:cNvPicPr>
          <p:nvPr/>
        </p:nvPicPr>
        <p:blipFill>
          <a:blip r:embed="rId4"/>
          <a:srcRect t="-8829" b="-8829"/>
          <a:stretch/>
        </p:blipFill>
        <p:spPr>
          <a:xfrm>
            <a:off x="5943600" y="1656029"/>
            <a:ext cx="487680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20366" y="4284929"/>
            <a:ext cx="21232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PFC (line crest)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207363" y="4640529"/>
            <a:ext cx="434927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 3.43 µs on-time, ~5 µs demagnetisation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PFC vs. With PFC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21718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 = 35.36 V RMS, Vout = 12 V, resistive load ≈ 9 W, window 0.46–0.50 s</a:t>
            </a:r>
            <a:endParaRPr lang="en-US" sz="1300" dirty="0"/>
          </a:p>
        </p:txBody>
      </p:sp>
      <p:pic>
        <p:nvPicPr>
          <p:cNvPr id="5" name="Image 0" descr="Input voltage and current without PFC"/>
          <p:cNvPicPr>
            <a:picLocks noChangeAspect="1"/>
          </p:cNvPicPr>
          <p:nvPr/>
        </p:nvPicPr>
        <p:blipFill>
          <a:blip r:embed="rId3"/>
          <a:srcRect l="-568" r="-568"/>
          <a:stretch/>
        </p:blipFill>
        <p:spPr>
          <a:xfrm>
            <a:off x="1168400" y="1656035"/>
            <a:ext cx="4064000" cy="304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7824" y="4831035"/>
            <a:ext cx="118451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0.5698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813454" y="5293258"/>
            <a:ext cx="215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68918" y="4831035"/>
            <a:ext cx="133389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139.8 %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055680" y="5293258"/>
            <a:ext cx="33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34499" y="4831035"/>
            <a:ext cx="112609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80.1 %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436401" y="5293258"/>
            <a:ext cx="1346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η</a:t>
            </a:r>
            <a:endParaRPr lang="en-US" sz="1200" dirty="0"/>
          </a:p>
        </p:txBody>
      </p:sp>
      <p:pic>
        <p:nvPicPr>
          <p:cNvPr id="12" name="Image 1" descr="Input voltage and current with PFC"/>
          <p:cNvPicPr>
            <a:picLocks noChangeAspect="1"/>
          </p:cNvPicPr>
          <p:nvPr/>
        </p:nvPicPr>
        <p:blipFill>
          <a:blip r:embed="rId4"/>
          <a:srcRect l="-1229" r="-1229"/>
          <a:stretch/>
        </p:blipFill>
        <p:spPr>
          <a:xfrm>
            <a:off x="6350000" y="1656035"/>
            <a:ext cx="4064000" cy="3048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96009" y="4831035"/>
            <a:ext cx="118451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0.9976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081639" y="5293258"/>
            <a:ext cx="215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937103" y="4831035"/>
            <a:ext cx="112609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6.95 %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8237280" y="5293258"/>
            <a:ext cx="33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129514" y="4831035"/>
            <a:ext cx="112609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85.1 %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9531417" y="5293258"/>
            <a:ext cx="1346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η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PFC – Inductive and Capacitive Loads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196318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output power (≈ 8.3 W), only the load character changes</a:t>
            </a:r>
            <a:endParaRPr lang="en-US" sz="1300" dirty="0"/>
          </a:p>
        </p:txBody>
      </p:sp>
      <p:pic>
        <p:nvPicPr>
          <p:cNvPr id="5" name="Image 0" descr="Inductive load: input voltage and current"/>
          <p:cNvPicPr>
            <a:picLocks noChangeAspect="1"/>
          </p:cNvPicPr>
          <p:nvPr/>
        </p:nvPicPr>
        <p:blipFill>
          <a:blip r:embed="rId3"/>
          <a:srcRect l="-20095" r="-20095"/>
          <a:stretch/>
        </p:blipFill>
        <p:spPr>
          <a:xfrm>
            <a:off x="762000" y="1605235"/>
            <a:ext cx="3810000" cy="2095500"/>
          </a:xfrm>
          <a:prstGeom prst="rect">
            <a:avLst/>
          </a:prstGeom>
        </p:spPr>
      </p:pic>
      <p:pic>
        <p:nvPicPr>
          <p:cNvPr id="6" name="Image 1" descr="Inductive load: input current harmonics"/>
          <p:cNvPicPr>
            <a:picLocks noChangeAspect="1"/>
          </p:cNvPicPr>
          <p:nvPr/>
        </p:nvPicPr>
        <p:blipFill>
          <a:blip r:embed="rId4"/>
          <a:srcRect l="-22783" r="-22783"/>
          <a:stretch/>
        </p:blipFill>
        <p:spPr>
          <a:xfrm>
            <a:off x="4775200" y="1605235"/>
            <a:ext cx="3810000" cy="2095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88400" y="2233885"/>
            <a:ext cx="113577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Inductive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788400" y="2558988"/>
            <a:ext cx="99728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 0.9975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788400" y="2840906"/>
            <a:ext cx="99728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THD 7.01 %</a:t>
            </a:r>
            <a:endParaRPr lang="en-US" sz="1300" dirty="0"/>
          </a:p>
        </p:txBody>
      </p:sp>
      <p:pic>
        <p:nvPicPr>
          <p:cNvPr id="10" name="Image 2" descr="Capacitive load: input voltage and current"/>
          <p:cNvPicPr>
            <a:picLocks noChangeAspect="1"/>
          </p:cNvPicPr>
          <p:nvPr/>
        </p:nvPicPr>
        <p:blipFill>
          <a:blip r:embed="rId5"/>
          <a:srcRect l="-19940" r="-19940"/>
          <a:stretch/>
        </p:blipFill>
        <p:spPr>
          <a:xfrm>
            <a:off x="762000" y="3878535"/>
            <a:ext cx="3810000" cy="2095500"/>
          </a:xfrm>
          <a:prstGeom prst="rect">
            <a:avLst/>
          </a:prstGeom>
        </p:spPr>
      </p:pic>
      <p:pic>
        <p:nvPicPr>
          <p:cNvPr id="11" name="Image 3" descr="Capacitive load: input current harmonics"/>
          <p:cNvPicPr>
            <a:picLocks noChangeAspect="1"/>
          </p:cNvPicPr>
          <p:nvPr/>
        </p:nvPicPr>
        <p:blipFill>
          <a:blip r:embed="rId6"/>
          <a:srcRect l="-24016" r="-24016"/>
          <a:stretch/>
        </p:blipFill>
        <p:spPr>
          <a:xfrm>
            <a:off x="4775200" y="3878535"/>
            <a:ext cx="3810000" cy="2095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788400" y="4507185"/>
            <a:ext cx="1290161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Capacitive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8788400" y="4832288"/>
            <a:ext cx="112593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 0.9975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788400" y="5114206"/>
            <a:ext cx="112593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THD 6.97 %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Character Comparison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1285218"/>
          <a:ext cx="10045698" cy="2572942"/>
        </p:xfrm>
        <a:graphic>
          <a:graphicData uri="http://schemas.openxmlformats.org/drawingml/2006/table">
            <a:tbl>
              <a:tblPr/>
              <a:tblGrid>
                <a:gridCol w="167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Case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PF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THD [%]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Irms [A]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Pout [W]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η [%]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714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 PFC (reference)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0.5698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139.77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0.562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9.08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80.13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PFC – Resistive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0.9976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6.95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0.278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8.33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85.12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PFC – Inductive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0.9975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7.01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0.275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8.24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85.07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PFC – Capacitive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0.9975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6.97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0.275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8.30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85.59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11215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 varies by only 0.01 % between load types – the hypothesis holds for static loads.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Time-Varying Load – Repeated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21718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load character, increasing step magnitude, window 0.46–0.50 s</a:t>
            </a:r>
            <a:endParaRPr lang="en-US" sz="1300" dirty="0"/>
          </a:p>
        </p:txBody>
      </p:sp>
      <p:pic>
        <p:nvPicPr>
          <p:cNvPr id="5" name="Image 0" descr="50 to 100 percent step"/>
          <p:cNvPicPr>
            <a:picLocks noChangeAspect="1"/>
          </p:cNvPicPr>
          <p:nvPr/>
        </p:nvPicPr>
        <p:blipFill>
          <a:blip r:embed="rId3"/>
          <a:srcRect t="-2274" b="-2274"/>
          <a:stretch/>
        </p:blipFill>
        <p:spPr>
          <a:xfrm>
            <a:off x="762000" y="2661915"/>
            <a:ext cx="2400300" cy="190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1920" y="4643115"/>
            <a:ext cx="11404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→ 100 %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28921" y="4986015"/>
            <a:ext cx="86645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 0.9962</a:t>
            </a:r>
            <a:endParaRPr lang="en-US" sz="1300" dirty="0"/>
          </a:p>
        </p:txBody>
      </p:sp>
      <p:pic>
        <p:nvPicPr>
          <p:cNvPr id="8" name="Image 1" descr="100 to 150 percent step"/>
          <p:cNvPicPr>
            <a:picLocks noChangeAspect="1"/>
          </p:cNvPicPr>
          <p:nvPr/>
        </p:nvPicPr>
        <p:blipFill>
          <a:blip r:embed="rId4"/>
          <a:srcRect t="-1466" b="-1466"/>
          <a:stretch/>
        </p:blipFill>
        <p:spPr>
          <a:xfrm>
            <a:off x="3314700" y="2661915"/>
            <a:ext cx="24003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4692" y="4643115"/>
            <a:ext cx="12603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→ 150 %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081622" y="4986015"/>
            <a:ext cx="86645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 0.9966</a:t>
            </a:r>
            <a:endParaRPr lang="en-US" sz="1300" dirty="0"/>
          </a:p>
        </p:txBody>
      </p:sp>
      <p:pic>
        <p:nvPicPr>
          <p:cNvPr id="11" name="Image 2" descr="100 to 200 percent step"/>
          <p:cNvPicPr>
            <a:picLocks noChangeAspect="1"/>
          </p:cNvPicPr>
          <p:nvPr/>
        </p:nvPicPr>
        <p:blipFill>
          <a:blip r:embed="rId5"/>
          <a:srcRect t="-1196" b="-1196"/>
          <a:stretch/>
        </p:blipFill>
        <p:spPr>
          <a:xfrm>
            <a:off x="5867400" y="2661915"/>
            <a:ext cx="2400300" cy="1905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37392" y="4643115"/>
            <a:ext cx="12603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→ 200 %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634322" y="4986015"/>
            <a:ext cx="86645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 0.9918</a:t>
            </a:r>
            <a:endParaRPr lang="en-US" sz="1300" dirty="0"/>
          </a:p>
        </p:txBody>
      </p:sp>
      <p:pic>
        <p:nvPicPr>
          <p:cNvPr id="14" name="Image 3" descr="100 to 400 percent step"/>
          <p:cNvPicPr>
            <a:picLocks noChangeAspect="1"/>
          </p:cNvPicPr>
          <p:nvPr/>
        </p:nvPicPr>
        <p:blipFill>
          <a:blip r:embed="rId6"/>
          <a:srcRect t="-1626" b="-1626"/>
          <a:stretch/>
        </p:blipFill>
        <p:spPr>
          <a:xfrm>
            <a:off x="8420100" y="2661915"/>
            <a:ext cx="2400300" cy="1905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092" y="4643115"/>
            <a:ext cx="12603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→ 400 %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9187022" y="4986015"/>
            <a:ext cx="86645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ED7D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 0.8846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Step Comparison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1285218"/>
          <a:ext cx="10045698" cy="2572942"/>
        </p:xfrm>
        <a:graphic>
          <a:graphicData uri="http://schemas.openxmlformats.org/drawingml/2006/table">
            <a:tbl>
              <a:tblPr/>
              <a:tblGrid>
                <a:gridCol w="167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42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714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Load Step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PF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THD [%]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Pout [W]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Vout min / max [V]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η [%]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 → 100 %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0.9962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8.66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5.18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11.61 / 12.69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83.53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 → 150 %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0.9966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8.20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10.31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11.34 / 12.97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85.33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 → 200 %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0.9918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12.50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10.23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11.07 / 13.10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85.02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 → 400 %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0.8846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49.12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13.26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10.52 / 13.34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83.70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11215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Up to 2× step: PF &gt; 0.99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62000" y="448045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At 4×: DC-bus energy runs out – displacement factor still ≥ 0.9997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Implementation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233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Build the hardware prototype and reproduce the static cases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7678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Sweep load steps between 2× and 4× to find the PF = 0.95 point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2123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Measure output-voltage recovery time after a single step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6568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Repeat the 4× case with added bulk capacitance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1013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Compare against a BCM variant with zero-current detection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3601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F55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233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Digital PFC on an Arduino-class MCU works: PF 0.57 → 0.998, THD 140 % → 7 %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7678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PF is independent of load character (R, L, C all ≈ 0.9975)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2123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PF depends on load dynamics – limited by DC-bus energy storage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6568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All PF loss is harmonic distortion; phase shift never exceeds 1.3°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101318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r>
              <a:rPr lang="en-US" sz="15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Average Vout within 0.2 % of 12 V in every case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FC Flyback Converter – Final Presentation">
  <a:themeElements>
    <a:clrScheme name="PFC Flyback Converter – Final Presentation">
      <a:dk1>
        <a:srgbClr val="404040"/>
      </a:dk1>
      <a:lt1>
        <a:srgbClr val="FFFFFF"/>
      </a:lt1>
      <a:dk2>
        <a:srgbClr val="707070"/>
      </a:dk2>
      <a:lt2>
        <a:srgbClr val="ECECEC"/>
      </a:lt2>
      <a:accent1>
        <a:srgbClr val="2F5597"/>
      </a:accent1>
      <a:accent2>
        <a:srgbClr val="4472C4"/>
      </a:accent2>
      <a:accent3>
        <a:srgbClr val="ED7D31"/>
      </a:accent3>
      <a:accent4>
        <a:srgbClr val="595959"/>
      </a:accent4>
      <a:accent5>
        <a:srgbClr val="7F7F7F"/>
      </a:accent5>
      <a:accent6>
        <a:srgbClr val="9AA0A6"/>
      </a:accent6>
      <a:hlink>
        <a:srgbClr val="0563C1"/>
      </a:hlink>
      <a:folHlink>
        <a:srgbClr val="954F72"/>
      </a:folHlink>
    </a:clrScheme>
    <a:fontScheme name="PFC Flyback Converter – Final Presentation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1814</Words>
  <Application>Microsoft Office PowerPoint</Application>
  <PresentationFormat>Widescreen</PresentationFormat>
  <Paragraphs>278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Cambria</vt:lpstr>
      <vt:lpstr>Trebuchet MS</vt:lpstr>
      <vt:lpstr>PFC Flyback Converter – Final Presentation</vt:lpstr>
      <vt:lpstr>PFC Flyback Converter</vt:lpstr>
      <vt:lpstr>What is a Flyback Converter?</vt:lpstr>
      <vt:lpstr>Why Do We Need PFC?</vt:lpstr>
      <vt:lpstr>Project Definition &amp; Goals</vt:lpstr>
      <vt:lpstr>Project Steps</vt:lpstr>
      <vt:lpstr>Conduction Modes: CCM, DCM, BCM</vt:lpstr>
      <vt:lpstr>Reference Unit: EV44010 Flyback</vt:lpstr>
      <vt:lpstr>EV44010 Flyback Simulations</vt:lpstr>
      <vt:lpstr>MP44010 Controller – BCM Control</vt:lpstr>
      <vt:lpstr>Our Design: Arduino-Controlled Flyback</vt:lpstr>
      <vt:lpstr>Reference Unit vs. Our Design</vt:lpstr>
      <vt:lpstr>Digital Constant On-Time Control</vt:lpstr>
      <vt:lpstr>LTspice Models</vt:lpstr>
      <vt:lpstr>LTspice Models</vt:lpstr>
      <vt:lpstr>Switching Regime Verification – DCM</vt:lpstr>
      <vt:lpstr>Without PFC vs. With PFC</vt:lpstr>
      <vt:lpstr>PFC – Inductive and Capacitive Loads</vt:lpstr>
      <vt:lpstr>Load Character Comparison</vt:lpstr>
      <vt:lpstr>Time-Varying Load – Repeated Steps</vt:lpstr>
      <vt:lpstr>Load Step Comparison</vt:lpstr>
      <vt:lpstr>Future Implementation Steps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 Flyback Converter – Final Presentation</dc:title>
  <dc:subject/>
  <dc:creator>Anat Rom</dc:creator>
  <cp:lastModifiedBy>Anat Rom</cp:lastModifiedBy>
  <cp:revision>3</cp:revision>
  <dcterms:created xsi:type="dcterms:W3CDTF">2026-10-09T08:13:42Z</dcterms:created>
  <dcterms:modified xsi:type="dcterms:W3CDTF">2026-10-12T07:00:04Z</dcterms:modified>
</cp:coreProperties>
</file>